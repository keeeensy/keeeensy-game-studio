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11162" y="1017273"/>
            <a:ext cx="33278" cy="33278"/>
          </a:xfrm>
          <a:prstGeom prst="ellipse">
            <a:avLst/>
          </a:prstGeom>
          <a:solidFill>
            <a:srgbClr val="FF3333">
              <a:alpha val="24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23137" y="1248811"/>
            <a:ext cx="43434" cy="43434"/>
          </a:xfrm>
          <a:prstGeom prst="ellipse">
            <a:avLst/>
          </a:prstGeom>
          <a:solidFill>
            <a:srgbClr val="FF3333">
              <a:alpha val="4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07081" y="786644"/>
            <a:ext cx="85302" cy="85302"/>
          </a:xfrm>
          <a:prstGeom prst="ellipse">
            <a:avLst/>
          </a:prstGeom>
          <a:solidFill>
            <a:srgbClr val="00F0FF">
              <a:alpha val="1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720018" y="2003583"/>
            <a:ext cx="96236" cy="96236"/>
          </a:xfrm>
          <a:prstGeom prst="ellipse">
            <a:avLst/>
          </a:prstGeom>
          <a:solidFill>
            <a:srgbClr val="FFD700">
              <a:alpha val="15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93449" y="6063914"/>
            <a:ext cx="84986" cy="84986"/>
          </a:xfrm>
          <a:prstGeom prst="ellipse">
            <a:avLst/>
          </a:prstGeom>
          <a:solidFill>
            <a:srgbClr val="FF00FF">
              <a:alpha val="30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741802" y="129052"/>
            <a:ext cx="50926" cy="50926"/>
          </a:xfrm>
          <a:prstGeom prst="ellipse">
            <a:avLst/>
          </a:prstGeom>
          <a:solidFill>
            <a:srgbClr val="FF3333">
              <a:alpha val="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32797" y="1375146"/>
            <a:ext cx="58220" cy="58220"/>
          </a:xfrm>
          <a:prstGeom prst="ellipse">
            <a:avLst/>
          </a:prstGeom>
          <a:solidFill>
            <a:srgbClr val="39FF14">
              <a:alpha val="18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35596" y="872789"/>
            <a:ext cx="77052" cy="77052"/>
          </a:xfrm>
          <a:prstGeom prst="ellipse">
            <a:avLst/>
          </a:prstGeom>
          <a:solidFill>
            <a:srgbClr val="39FF14">
              <a:alpha val="36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3869" y="6176325"/>
            <a:ext cx="90216" cy="90216"/>
          </a:xfrm>
          <a:prstGeom prst="ellipse">
            <a:avLst/>
          </a:prstGeom>
          <a:solidFill>
            <a:srgbClr val="FFD700">
              <a:alpha val="19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16540" y="726810"/>
            <a:ext cx="68426" cy="68426"/>
          </a:xfrm>
          <a:prstGeom prst="ellipse">
            <a:avLst/>
          </a:prstGeom>
          <a:solidFill>
            <a:srgbClr val="FF3333">
              <a:alpha val="3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39627" y="4915579"/>
            <a:ext cx="55202" cy="55202"/>
          </a:xfrm>
          <a:prstGeom prst="ellipse">
            <a:avLst/>
          </a:prstGeom>
          <a:solidFill>
            <a:srgbClr val="FF3333">
              <a:alpha val="1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903269" y="2507333"/>
            <a:ext cx="40458" cy="40458"/>
          </a:xfrm>
          <a:prstGeom prst="ellipse">
            <a:avLst/>
          </a:prstGeom>
          <a:solidFill>
            <a:srgbClr val="FF00FF">
              <a:alpha val="4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2745" y="2387097"/>
            <a:ext cx="89428" cy="89428"/>
          </a:xfrm>
          <a:prstGeom prst="ellipse">
            <a:avLst/>
          </a:prstGeom>
          <a:solidFill>
            <a:srgbClr val="FF3333">
              <a:alpha val="4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90599" y="3167020"/>
            <a:ext cx="76566" cy="76566"/>
          </a:xfrm>
          <a:prstGeom prst="ellipse">
            <a:avLst/>
          </a:prstGeom>
          <a:solidFill>
            <a:srgbClr val="FF00FF">
              <a:alpha val="3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46014" y="672752"/>
            <a:ext cx="52430" cy="52430"/>
          </a:xfrm>
          <a:prstGeom prst="ellipse">
            <a:avLst/>
          </a:prstGeom>
          <a:solidFill>
            <a:srgbClr val="FFD700">
              <a:alpha val="40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801571" y="3937852"/>
            <a:ext cx="79734" cy="79734"/>
          </a:xfrm>
          <a:prstGeom prst="ellipse">
            <a:avLst/>
          </a:prstGeom>
          <a:solidFill>
            <a:srgbClr val="39FF14">
              <a:alpha val="4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08022" y="5843328"/>
            <a:ext cx="58784" cy="58784"/>
          </a:xfrm>
          <a:prstGeom prst="ellipse">
            <a:avLst/>
          </a:prstGeom>
          <a:solidFill>
            <a:srgbClr val="FF3333">
              <a:alpha val="26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1380" y="2004291"/>
            <a:ext cx="34206" cy="34206"/>
          </a:xfrm>
          <a:prstGeom prst="ellipse">
            <a:avLst/>
          </a:prstGeom>
          <a:solidFill>
            <a:srgbClr val="39FF14">
              <a:alpha val="29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74838" y="1834230"/>
            <a:ext cx="71244" cy="71244"/>
          </a:xfrm>
          <a:prstGeom prst="ellipse">
            <a:avLst/>
          </a:prstGeom>
          <a:solidFill>
            <a:srgbClr val="FF00FF">
              <a:alpha val="37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92530" y="5447561"/>
            <a:ext cx="90142" cy="90142"/>
          </a:xfrm>
          <a:prstGeom prst="ellipse">
            <a:avLst/>
          </a:prstGeom>
          <a:solidFill>
            <a:srgbClr val="FF00FF">
              <a:alpha val="24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05503" y="6317201"/>
            <a:ext cx="64438" cy="64438"/>
          </a:xfrm>
          <a:prstGeom prst="ellipse">
            <a:avLst/>
          </a:prstGeom>
          <a:solidFill>
            <a:srgbClr val="FF3333">
              <a:alpha val="35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51334" y="3411691"/>
            <a:ext cx="77446" cy="77446"/>
          </a:xfrm>
          <a:prstGeom prst="ellipse">
            <a:avLst/>
          </a:prstGeom>
          <a:solidFill>
            <a:srgbClr val="FF00FF">
              <a:alpha val="4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73478" y="4326873"/>
            <a:ext cx="94686" cy="94686"/>
          </a:xfrm>
          <a:prstGeom prst="ellipse">
            <a:avLst/>
          </a:prstGeom>
          <a:solidFill>
            <a:srgbClr val="00F0FF">
              <a:alpha val="4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14123" y="1356641"/>
            <a:ext cx="50968" cy="50968"/>
          </a:xfrm>
          <a:prstGeom prst="ellipse">
            <a:avLst/>
          </a:prstGeom>
          <a:solidFill>
            <a:srgbClr val="FF3333">
              <a:alpha val="2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25809" y="3287653"/>
            <a:ext cx="80018" cy="80018"/>
          </a:xfrm>
          <a:prstGeom prst="ellipse">
            <a:avLst/>
          </a:prstGeom>
          <a:solidFill>
            <a:srgbClr val="FFD700">
              <a:alpha val="49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2000" cy="150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000" y="1200000"/>
            <a:ext cx="10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Segoe UI"/>
              </a:defRPr>
            </a:pPr>
            <a:r>
              <a:t>P O R T F O L I 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2100000"/>
            <a:ext cx="6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00F0FF"/>
                </a:solidFill>
                <a:latin typeface="Segoe UI"/>
              </a:defRPr>
            </a:pPr>
            <a:r>
              <a:t>GAMEDEV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000" y="26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AA"/>
                </a:solidFill>
                <a:latin typeface="Segoe UI"/>
              </a:defRPr>
            </a:pPr>
            <a:r>
              <a:t>Selected works  2024-2026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000" y="340000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Делиергиев Станислав Евгеньевич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000" y="4100000"/>
            <a:ext cx="3500000" cy="30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000" y="4100000"/>
            <a:ext cx="3500000" cy="10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00000" y="2400000"/>
            <a:ext cx="1200000" cy="1200000"/>
          </a:xfrm>
          <a:prstGeom prst="ellipse">
            <a:avLst/>
          </a:prstGeom>
          <a:solidFill>
            <a:srgbClr val="00F0FF">
              <a:alpha val="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300000" y="2700000"/>
            <a:ext cx="600000" cy="600000"/>
          </a:xfrm>
          <a:prstGeom prst="ellipse">
            <a:avLst/>
          </a:prstGeom>
          <a:solidFill>
            <a:srgbClr val="FF00FF">
              <a:alpha val="15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00000" y="1500000"/>
            <a:ext cx="3000000" cy="3000000"/>
          </a:xfrm>
          <a:prstGeom prst="rect">
            <a:avLst/>
          </a:prstGeom>
          <a:solidFill>
            <a:srgbClr val="12122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0000" y="2700000"/>
            <a:ext cx="3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Segoe UI"/>
              </a:defRPr>
            </a:pPr>
            <a:r>
              <a:t>[avatar]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000" y="58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66"/>
                </a:solidFill>
                <a:latin typeface="Segoe UI"/>
              </a:defRPr>
            </a:pPr>
            <a:r>
              <a:t>Студент 1-го курса СевГУ  |  Информационные системы и технологии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92137" y="1324539"/>
            <a:ext cx="81750" cy="81750"/>
          </a:xfrm>
          <a:prstGeom prst="ellipse">
            <a:avLst/>
          </a:prstGeom>
          <a:solidFill>
            <a:srgbClr val="FF3333">
              <a:alpha val="1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1643" y="850655"/>
            <a:ext cx="77930" cy="77930"/>
          </a:xfrm>
          <a:prstGeom prst="ellipse">
            <a:avLst/>
          </a:prstGeom>
          <a:solidFill>
            <a:srgbClr val="FFD700">
              <a:alpha val="1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901" y="1883561"/>
            <a:ext cx="34914" cy="34914"/>
          </a:xfrm>
          <a:prstGeom prst="ellipse">
            <a:avLst/>
          </a:prstGeom>
          <a:solidFill>
            <a:srgbClr val="00F0FF">
              <a:alpha val="30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51035" y="2097883"/>
            <a:ext cx="41888" cy="41888"/>
          </a:xfrm>
          <a:prstGeom prst="ellipse">
            <a:avLst/>
          </a:prstGeom>
          <a:solidFill>
            <a:srgbClr val="FFD700">
              <a:alpha val="29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57108" y="1108896"/>
            <a:ext cx="59260" cy="59260"/>
          </a:xfrm>
          <a:prstGeom prst="ellipse">
            <a:avLst/>
          </a:prstGeom>
          <a:solidFill>
            <a:srgbClr val="FF3333">
              <a:alpha val="36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6876" y="4900094"/>
            <a:ext cx="81992" cy="81992"/>
          </a:xfrm>
          <a:prstGeom prst="ellipse">
            <a:avLst/>
          </a:prstGeom>
          <a:solidFill>
            <a:srgbClr val="00F0FF">
              <a:alpha val="4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800" y="4745916"/>
            <a:ext cx="47454" cy="47454"/>
          </a:xfrm>
          <a:prstGeom prst="ellipse">
            <a:avLst/>
          </a:prstGeom>
          <a:solidFill>
            <a:srgbClr val="39FF14">
              <a:alpha val="2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35987" y="1052896"/>
            <a:ext cx="70432" cy="70432"/>
          </a:xfrm>
          <a:prstGeom prst="ellipse">
            <a:avLst/>
          </a:prstGeom>
          <a:solidFill>
            <a:srgbClr val="FFD700">
              <a:alpha val="4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4773" y="937181"/>
            <a:ext cx="54624" cy="54624"/>
          </a:xfrm>
          <a:prstGeom prst="ellipse">
            <a:avLst/>
          </a:prstGeom>
          <a:solidFill>
            <a:srgbClr val="39FF14">
              <a:alpha val="1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4518" y="4815358"/>
            <a:ext cx="37812" cy="37812"/>
          </a:xfrm>
          <a:prstGeom prst="ellipse">
            <a:avLst/>
          </a:prstGeom>
          <a:solidFill>
            <a:srgbClr val="FFD700">
              <a:alpha val="22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85198" y="3651317"/>
            <a:ext cx="71174" cy="71174"/>
          </a:xfrm>
          <a:prstGeom prst="ellipse">
            <a:avLst/>
          </a:prstGeom>
          <a:solidFill>
            <a:srgbClr val="4A7CFF">
              <a:alpha val="35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68527" y="3098527"/>
            <a:ext cx="69290" cy="69290"/>
          </a:xfrm>
          <a:prstGeom prst="ellipse">
            <a:avLst/>
          </a:prstGeom>
          <a:solidFill>
            <a:srgbClr val="FF00FF">
              <a:alpha val="4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60582" y="751972"/>
            <a:ext cx="69354" cy="69354"/>
          </a:xfrm>
          <a:prstGeom prst="ellipse">
            <a:avLst/>
          </a:prstGeom>
          <a:solidFill>
            <a:srgbClr val="FFD700">
              <a:alpha val="32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8151" y="6174616"/>
            <a:ext cx="88828" cy="88828"/>
          </a:xfrm>
          <a:prstGeom prst="ellipse">
            <a:avLst/>
          </a:prstGeom>
          <a:solidFill>
            <a:srgbClr val="39FF14">
              <a:alpha val="36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79556" y="1041857"/>
            <a:ext cx="97100" cy="97100"/>
          </a:xfrm>
          <a:prstGeom prst="ellipse">
            <a:avLst/>
          </a:prstGeom>
          <a:solidFill>
            <a:srgbClr val="4A7CFF">
              <a:alpha val="20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91700" y="1327894"/>
            <a:ext cx="94088" cy="94088"/>
          </a:xfrm>
          <a:prstGeom prst="ellipse">
            <a:avLst/>
          </a:prstGeom>
          <a:solidFill>
            <a:srgbClr val="4A7CFF">
              <a:alpha val="16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66694" y="4745917"/>
            <a:ext cx="71122" cy="71122"/>
          </a:xfrm>
          <a:prstGeom prst="ellipse">
            <a:avLst/>
          </a:prstGeom>
          <a:solidFill>
            <a:srgbClr val="39FF14">
              <a:alpha val="39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26974" y="4221513"/>
            <a:ext cx="89794" cy="89794"/>
          </a:xfrm>
          <a:prstGeom prst="ellipse">
            <a:avLst/>
          </a:prstGeom>
          <a:solidFill>
            <a:srgbClr val="00F0FF">
              <a:alpha val="44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09570" y="4057766"/>
            <a:ext cx="38518" cy="38518"/>
          </a:xfrm>
          <a:prstGeom prst="ellipse">
            <a:avLst/>
          </a:prstGeom>
          <a:solidFill>
            <a:srgbClr val="00F0FF">
              <a:alpha val="40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50144" y="5484305"/>
            <a:ext cx="88410" cy="88410"/>
          </a:xfrm>
          <a:prstGeom prst="ellipse">
            <a:avLst/>
          </a:prstGeom>
          <a:solidFill>
            <a:srgbClr val="39FF14">
              <a:alpha val="4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76525" y="244014"/>
            <a:ext cx="90514" cy="90514"/>
          </a:xfrm>
          <a:prstGeom prst="ellipse">
            <a:avLst/>
          </a:prstGeom>
          <a:solidFill>
            <a:srgbClr val="39FF14">
              <a:alpha val="20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45678" y="4222534"/>
            <a:ext cx="37726" cy="37726"/>
          </a:xfrm>
          <a:prstGeom prst="ellipse">
            <a:avLst/>
          </a:prstGeom>
          <a:solidFill>
            <a:srgbClr val="FF00FF">
              <a:alpha val="41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238741" y="6262613"/>
            <a:ext cx="62454" cy="62454"/>
          </a:xfrm>
          <a:prstGeom prst="ellipse">
            <a:avLst/>
          </a:prstGeom>
          <a:solidFill>
            <a:srgbClr val="4A7CFF">
              <a:alpha val="2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4098" y="750062"/>
            <a:ext cx="51804" cy="51804"/>
          </a:xfrm>
          <a:prstGeom prst="ellipse">
            <a:avLst/>
          </a:prstGeom>
          <a:solidFill>
            <a:srgbClr val="4A7CFF">
              <a:alpha val="29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18153" y="1205405"/>
            <a:ext cx="86428" cy="86428"/>
          </a:xfrm>
          <a:prstGeom prst="ellipse">
            <a:avLst/>
          </a:prstGeom>
          <a:solidFill>
            <a:srgbClr val="FFD700">
              <a:alpha val="2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0000" y="3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Делиергиев Станислав     —     GameDev / Программист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000" y="700000"/>
            <a:ext cx="45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Дата рождения:     11.03.2006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Страна / Город:     Россия, Севастополь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Языки:     русский, английский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contact: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st.deliergiev@mail.ru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github.com/keeeensy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3600000"/>
            <a:ext cx="2200000" cy="2200000"/>
          </a:xfrm>
          <a:prstGeom prst="rect">
            <a:avLst/>
          </a:prstGeom>
          <a:solidFill>
            <a:srgbClr val="12122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43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Segoe UI"/>
              </a:defRPr>
            </a:pPr>
            <a:r>
              <a:t>[photo]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00000" y="4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0FF"/>
                </a:solidFill>
                <a:latin typeface="Segoe UI"/>
              </a:defRPr>
            </a:pPr>
            <a:r>
              <a:t>ОБРАЗОВАНИЕ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00000" y="800000"/>
            <a:ext cx="5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2025–2029  Бакалавриат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Севастопольский государственный университет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Высшая техническая школа «СПИ»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Информационные системы и технологии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00000" y="22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FF"/>
                </a:solidFill>
                <a:latin typeface="Segoe UI"/>
              </a:defRPr>
            </a:pPr>
            <a:r>
              <a:t>НАВЫКИ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0000" y="2600000"/>
            <a:ext cx="5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ЯЗЫКИ:   C, C++ (C++17), Python, Java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ИГРЫ:   Pygame, raylib, Unreal Engine 4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СБОРКА:   CMake, MinGW, PyInstaller, Gradle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МОДЫ:   Minecraft Fabric (mixins, API events)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СИСТЕМНОЕ:   Linux, bash, Nginx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МОНИТОРИНГ:   Prometheus + Grafana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БД:   MySQL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ПРОЧЕЕ:   Git, PowerShell, модульная архитектура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00000" y="50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9FF14"/>
                </a:solidFill>
                <a:latin typeface="Segoe UI"/>
              </a:defRPr>
            </a:pPr>
            <a:r>
              <a:t>ПРОЕКТЫ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00000" y="5400000"/>
            <a:ext cx="55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Unreal Engine 4 (школьные прототипы)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C: «Обработка заказов доставки» (CRUD, файлы)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Python: Gem Hunter 2D, Zombie Survival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C++/raylib: Gem Hunter 3D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Java/Fabric: 2 Minecraft мода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Единый анимированный лаунчер (Python/tkinter)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18270" y="2511881"/>
            <a:ext cx="54342" cy="54342"/>
          </a:xfrm>
          <a:prstGeom prst="ellipse">
            <a:avLst/>
          </a:prstGeom>
          <a:solidFill>
            <a:srgbClr val="FF3333">
              <a:alpha val="23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41654" y="1961524"/>
            <a:ext cx="54558" cy="54558"/>
          </a:xfrm>
          <a:prstGeom prst="ellipse">
            <a:avLst/>
          </a:prstGeom>
          <a:solidFill>
            <a:srgbClr val="FF00FF">
              <a:alpha val="1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4462" y="6312620"/>
            <a:ext cx="68620" cy="68620"/>
          </a:xfrm>
          <a:prstGeom prst="ellipse">
            <a:avLst/>
          </a:prstGeom>
          <a:solidFill>
            <a:srgbClr val="00F0FF">
              <a:alpha val="30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74217" y="187990"/>
            <a:ext cx="66154" cy="66154"/>
          </a:xfrm>
          <a:prstGeom prst="ellipse">
            <a:avLst/>
          </a:prstGeom>
          <a:solidFill>
            <a:srgbClr val="FF00FF">
              <a:alpha val="17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59563" y="3840191"/>
            <a:ext cx="87246" cy="87246"/>
          </a:xfrm>
          <a:prstGeom prst="ellipse">
            <a:avLst/>
          </a:prstGeom>
          <a:solidFill>
            <a:srgbClr val="FF00FF">
              <a:alpha val="42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376508" y="3053802"/>
            <a:ext cx="60674" cy="60674"/>
          </a:xfrm>
          <a:prstGeom prst="ellipse">
            <a:avLst/>
          </a:prstGeom>
          <a:solidFill>
            <a:srgbClr val="4A7CFF">
              <a:alpha val="46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79328" y="4789185"/>
            <a:ext cx="86304" cy="86304"/>
          </a:xfrm>
          <a:prstGeom prst="ellipse">
            <a:avLst/>
          </a:prstGeom>
          <a:solidFill>
            <a:srgbClr val="FF3333">
              <a:alpha val="2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275659" y="5421777"/>
            <a:ext cx="71124" cy="71124"/>
          </a:xfrm>
          <a:prstGeom prst="ellipse">
            <a:avLst/>
          </a:prstGeom>
          <a:solidFill>
            <a:srgbClr val="FF3333">
              <a:alpha val="1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44765" y="5384343"/>
            <a:ext cx="64456" cy="64456"/>
          </a:xfrm>
          <a:prstGeom prst="ellipse">
            <a:avLst/>
          </a:prstGeom>
          <a:solidFill>
            <a:srgbClr val="FF3333">
              <a:alpha val="3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0210" y="6354293"/>
            <a:ext cx="47674" cy="47674"/>
          </a:xfrm>
          <a:prstGeom prst="ellipse">
            <a:avLst/>
          </a:prstGeom>
          <a:solidFill>
            <a:srgbClr val="4A7CFF">
              <a:alpha val="3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512441" y="4569517"/>
            <a:ext cx="53150" cy="53150"/>
          </a:xfrm>
          <a:prstGeom prst="ellipse">
            <a:avLst/>
          </a:prstGeom>
          <a:solidFill>
            <a:srgbClr val="39FF14">
              <a:alpha val="2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37737" y="3056827"/>
            <a:ext cx="63202" cy="63202"/>
          </a:xfrm>
          <a:prstGeom prst="ellipse">
            <a:avLst/>
          </a:prstGeom>
          <a:solidFill>
            <a:srgbClr val="39FF14">
              <a:alpha val="3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17647" y="2409020"/>
            <a:ext cx="81872" cy="81872"/>
          </a:xfrm>
          <a:prstGeom prst="ellipse">
            <a:avLst/>
          </a:prstGeom>
          <a:solidFill>
            <a:srgbClr val="FF00FF">
              <a:alpha val="35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97468" y="2044627"/>
            <a:ext cx="60890" cy="60890"/>
          </a:xfrm>
          <a:prstGeom prst="ellipse">
            <a:avLst/>
          </a:prstGeom>
          <a:solidFill>
            <a:srgbClr val="FF00FF">
              <a:alpha val="39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56311" y="671476"/>
            <a:ext cx="86410" cy="86410"/>
          </a:xfrm>
          <a:prstGeom prst="ellipse">
            <a:avLst/>
          </a:prstGeom>
          <a:solidFill>
            <a:srgbClr val="FF3333">
              <a:alpha val="3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63671" y="3353804"/>
            <a:ext cx="30284" cy="30284"/>
          </a:xfrm>
          <a:prstGeom prst="ellipse">
            <a:avLst/>
          </a:prstGeom>
          <a:solidFill>
            <a:srgbClr val="FF3333">
              <a:alpha val="29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0630" y="1962349"/>
            <a:ext cx="48578" cy="48578"/>
          </a:xfrm>
          <a:prstGeom prst="ellipse">
            <a:avLst/>
          </a:prstGeom>
          <a:solidFill>
            <a:srgbClr val="4A7CFF">
              <a:alpha val="43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36201" y="5429160"/>
            <a:ext cx="63252" cy="63252"/>
          </a:xfrm>
          <a:prstGeom prst="ellipse">
            <a:avLst/>
          </a:prstGeom>
          <a:solidFill>
            <a:srgbClr val="FF00FF">
              <a:alpha val="4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77764" y="6437026"/>
            <a:ext cx="75952" cy="75952"/>
          </a:xfrm>
          <a:prstGeom prst="ellipse">
            <a:avLst/>
          </a:prstGeom>
          <a:solidFill>
            <a:srgbClr val="FF00FF">
              <a:alpha val="3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28903" y="3194582"/>
            <a:ext cx="98202" cy="98202"/>
          </a:xfrm>
          <a:prstGeom prst="ellipse">
            <a:avLst/>
          </a:prstGeom>
          <a:solidFill>
            <a:srgbClr val="FF3333">
              <a:alpha val="37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77521" y="2046101"/>
            <a:ext cx="95056" cy="95056"/>
          </a:xfrm>
          <a:prstGeom prst="ellipse">
            <a:avLst/>
          </a:prstGeom>
          <a:solidFill>
            <a:srgbClr val="FF00FF">
              <a:alpha val="4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560" y="4955196"/>
            <a:ext cx="35064" cy="35064"/>
          </a:xfrm>
          <a:prstGeom prst="ellipse">
            <a:avLst/>
          </a:prstGeom>
          <a:solidFill>
            <a:srgbClr val="39FF14">
              <a:alpha val="35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34193" y="2936379"/>
            <a:ext cx="53874" cy="53874"/>
          </a:xfrm>
          <a:prstGeom prst="ellipse">
            <a:avLst/>
          </a:prstGeom>
          <a:solidFill>
            <a:srgbClr val="39FF14">
              <a:alpha val="21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86485" y="1011924"/>
            <a:ext cx="59564" cy="59564"/>
          </a:xfrm>
          <a:prstGeom prst="ellipse">
            <a:avLst/>
          </a:prstGeom>
          <a:solidFill>
            <a:srgbClr val="FF00FF">
              <a:alpha val="1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79044" y="5074619"/>
            <a:ext cx="35088" cy="35088"/>
          </a:xfrm>
          <a:prstGeom prst="ellipse">
            <a:avLst/>
          </a:prstGeom>
          <a:solidFill>
            <a:srgbClr val="4A7CFF">
              <a:alpha val="43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0000" y="200000"/>
            <a:ext cx="6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Segoe UI"/>
              </a:defRPr>
            </a:pPr>
            <a:r>
              <a:t>Projects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0000" y="1100000"/>
            <a:ext cx="2700000" cy="3000000"/>
          </a:xfrm>
          <a:prstGeom prst="rect">
            <a:avLst/>
          </a:prstGeom>
          <a:solidFill>
            <a:srgbClr val="12122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660000" y="1260000"/>
            <a:ext cx="80000" cy="80000"/>
          </a:xfrm>
          <a:prstGeom prst="ellipse">
            <a:avLst/>
          </a:prstGeom>
          <a:solidFill>
            <a:srgbClr val="00F0FF">
              <a:alpha val="3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1400000"/>
            <a:ext cx="2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F0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0000" y="220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Gem Hunter 2D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0000" y="2700000"/>
            <a:ext cx="24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8888AA"/>
                </a:solidFill>
                <a:latin typeface="Segoe UI"/>
              </a:defRPr>
            </a:pPr>
            <a:r>
              <a:t>Python + Pygame</a:t>
            </a:r>
          </a:p>
          <a:p>
            <a:pPr>
              <a:spcAft>
                <a:spcPts val="400"/>
              </a:spcAft>
              <a:defRPr sz="1200" b="0">
                <a:solidFill>
                  <a:srgbClr val="8888AA"/>
                </a:solidFill>
                <a:latin typeface="Segoe UI"/>
              </a:defRPr>
            </a:pPr>
            <a:r>
              <a:t>15 levels · editor</a:t>
            </a:r>
          </a:p>
          <a:p>
            <a:pPr>
              <a:spcAft>
                <a:spcPts val="400"/>
              </a:spcAft>
              <a:defRPr sz="1200" b="0">
                <a:solidFill>
                  <a:srgbClr val="8888AA"/>
                </a:solidFill>
                <a:latin typeface="Segoe UI"/>
              </a:defRPr>
            </a:pPr>
            <a:r>
              <a:t>achievements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000" y="3800000"/>
            <a:ext cx="2400000" cy="20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000" y="1100000"/>
            <a:ext cx="2700000" cy="3000000"/>
          </a:xfrm>
          <a:prstGeom prst="rect">
            <a:avLst/>
          </a:prstGeom>
          <a:solidFill>
            <a:srgbClr val="121228"/>
          </a:solidFill>
          <a:ln w="1270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610000" y="1260000"/>
            <a:ext cx="80000" cy="80000"/>
          </a:xfrm>
          <a:prstGeom prst="ellipse">
            <a:avLst/>
          </a:prstGeom>
          <a:solidFill>
            <a:srgbClr val="FF00FF">
              <a:alpha val="3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50000" y="1400000"/>
            <a:ext cx="2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00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0000" y="220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Gem Hunter 3D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50000" y="2700000"/>
            <a:ext cx="24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8888AA"/>
                </a:solidFill>
                <a:latin typeface="Segoe UI"/>
              </a:defRPr>
            </a:pPr>
            <a:r>
              <a:t>C++17 + raylib</a:t>
            </a:r>
          </a:p>
          <a:p>
            <a:pPr>
              <a:spcAft>
                <a:spcPts val="400"/>
              </a:spcAft>
              <a:defRPr sz="1200" b="0">
                <a:solidFill>
                  <a:srgbClr val="8888AA"/>
                </a:solidFill>
                <a:latin typeface="Segoe UI"/>
              </a:defRPr>
            </a:pPr>
            <a:r>
              <a:t>10 levels · 3 enemies</a:t>
            </a:r>
          </a:p>
          <a:p>
            <a:pPr>
              <a:spcAft>
                <a:spcPts val="400"/>
              </a:spcAft>
              <a:defRPr sz="1200" b="0">
                <a:solidFill>
                  <a:srgbClr val="8888AA"/>
                </a:solidFill>
                <a:latin typeface="Segoe UI"/>
              </a:defRPr>
            </a:pPr>
            <a:r>
              <a:t>minimap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50000" y="3800000"/>
            <a:ext cx="2400000" cy="20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50000" y="1100000"/>
            <a:ext cx="2700000" cy="3000000"/>
          </a:xfrm>
          <a:prstGeom prst="rect">
            <a:avLst/>
          </a:prstGeom>
          <a:solidFill>
            <a:srgbClr val="121228"/>
          </a:solidFill>
          <a:ln w="127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560000" y="1260000"/>
            <a:ext cx="80000" cy="80000"/>
          </a:xfrm>
          <a:prstGeom prst="ellipse">
            <a:avLst/>
          </a:prstGeom>
          <a:solidFill>
            <a:srgbClr val="39FF14">
              <a:alpha val="3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000" y="1400000"/>
            <a:ext cx="2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39FF14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000" y="220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Zombie Survival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000" y="2700000"/>
            <a:ext cx="24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8888AA"/>
                </a:solidFill>
                <a:latin typeface="Segoe UI"/>
              </a:defRPr>
            </a:pPr>
            <a:r>
              <a:t>Python + Pygame</a:t>
            </a:r>
          </a:p>
          <a:p>
            <a:pPr>
              <a:spcAft>
                <a:spcPts val="400"/>
              </a:spcAft>
              <a:defRPr sz="1200" b="0">
                <a:solidFill>
                  <a:srgbClr val="8888AA"/>
                </a:solidFill>
                <a:latin typeface="Segoe UI"/>
              </a:defRPr>
            </a:pPr>
            <a:r>
              <a:t>wave shooter · 4 zombies</a:t>
            </a:r>
          </a:p>
          <a:p>
            <a:pPr>
              <a:spcAft>
                <a:spcPts val="400"/>
              </a:spcAft>
              <a:defRPr sz="1200" b="0">
                <a:solidFill>
                  <a:srgbClr val="8888AA"/>
                </a:solidFill>
                <a:latin typeface="Segoe UI"/>
              </a:defRPr>
            </a:pPr>
            <a:r>
              <a:t>upgrades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000" y="3800000"/>
            <a:ext cx="2400000" cy="20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00000" y="1100000"/>
            <a:ext cx="2700000" cy="3000000"/>
          </a:xfrm>
          <a:prstGeom prst="rect">
            <a:avLst/>
          </a:prstGeom>
          <a:solidFill>
            <a:srgbClr val="121228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510000" y="1260000"/>
            <a:ext cx="80000" cy="80000"/>
          </a:xfrm>
          <a:prstGeom prst="ellipse">
            <a:avLst/>
          </a:prstGeom>
          <a:solidFill>
            <a:srgbClr val="FFD700">
              <a:alpha val="3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50000" y="1400000"/>
            <a:ext cx="2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D700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50000" y="220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Minecraft Mods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50000" y="2700000"/>
            <a:ext cx="24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8888AA"/>
                </a:solidFill>
                <a:latin typeface="Segoe UI"/>
              </a:defRPr>
            </a:pPr>
            <a:r>
              <a:t>Java + Fabric</a:t>
            </a:r>
          </a:p>
          <a:p>
            <a:pPr>
              <a:spcAft>
                <a:spcPts val="400"/>
              </a:spcAft>
              <a:defRPr sz="1200" b="0">
                <a:solidFill>
                  <a:srgbClr val="8888AA"/>
                </a:solidFill>
                <a:latin typeface="Segoe UI"/>
              </a:defRPr>
            </a:pPr>
            <a:r>
              <a:t>RPG Levels · Death Marker</a:t>
            </a:r>
          </a:p>
          <a:p>
            <a:pPr>
              <a:spcAft>
                <a:spcPts val="400"/>
              </a:spcAft>
              <a:defRPr sz="1200" b="0">
                <a:solidFill>
                  <a:srgbClr val="8888AA"/>
                </a:solidFill>
                <a:latin typeface="Segoe UI"/>
              </a:defRPr>
            </a:pPr>
            <a:r>
              <a:t>2 mods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50000" y="3800000"/>
            <a:ext cx="2400000" cy="2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068836" y="5047885"/>
            <a:ext cx="47094" cy="47094"/>
          </a:xfrm>
          <a:prstGeom prst="ellipse">
            <a:avLst/>
          </a:prstGeom>
          <a:solidFill>
            <a:srgbClr val="39FF14">
              <a:alpha val="4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34004" y="5329628"/>
            <a:ext cx="38588" cy="38588"/>
          </a:xfrm>
          <a:prstGeom prst="ellipse">
            <a:avLst/>
          </a:prstGeom>
          <a:solidFill>
            <a:srgbClr val="FFD700">
              <a:alpha val="15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42055" y="2245262"/>
            <a:ext cx="60714" cy="60714"/>
          </a:xfrm>
          <a:prstGeom prst="ellipse">
            <a:avLst/>
          </a:prstGeom>
          <a:solidFill>
            <a:srgbClr val="FF00FF">
              <a:alpha val="49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43494" y="4591799"/>
            <a:ext cx="92436" cy="92436"/>
          </a:xfrm>
          <a:prstGeom prst="ellipse">
            <a:avLst/>
          </a:prstGeom>
          <a:solidFill>
            <a:srgbClr val="4A7CFF">
              <a:alpha val="37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01988" y="2020566"/>
            <a:ext cx="49872" cy="49872"/>
          </a:xfrm>
          <a:prstGeom prst="ellipse">
            <a:avLst/>
          </a:prstGeom>
          <a:solidFill>
            <a:srgbClr val="FFD700">
              <a:alpha val="2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34924" y="5713011"/>
            <a:ext cx="38392" cy="38392"/>
          </a:xfrm>
          <a:prstGeom prst="ellipse">
            <a:avLst/>
          </a:prstGeom>
          <a:solidFill>
            <a:srgbClr val="FF00FF">
              <a:alpha val="41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82262" y="424197"/>
            <a:ext cx="69486" cy="69486"/>
          </a:xfrm>
          <a:prstGeom prst="ellipse">
            <a:avLst/>
          </a:prstGeom>
          <a:solidFill>
            <a:srgbClr val="00F0FF">
              <a:alpha val="43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9911" y="4025304"/>
            <a:ext cx="80804" cy="80804"/>
          </a:xfrm>
          <a:prstGeom prst="ellipse">
            <a:avLst/>
          </a:prstGeom>
          <a:solidFill>
            <a:srgbClr val="FF3333">
              <a:alpha val="4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18640" y="3369055"/>
            <a:ext cx="88276" cy="88276"/>
          </a:xfrm>
          <a:prstGeom prst="ellipse">
            <a:avLst/>
          </a:prstGeom>
          <a:solidFill>
            <a:srgbClr val="FF00FF">
              <a:alpha val="45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11102" y="377128"/>
            <a:ext cx="47820" cy="47820"/>
          </a:xfrm>
          <a:prstGeom prst="ellipse">
            <a:avLst/>
          </a:prstGeom>
          <a:solidFill>
            <a:srgbClr val="4A7CFF">
              <a:alpha val="22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82853" y="5321978"/>
            <a:ext cx="69456" cy="69456"/>
          </a:xfrm>
          <a:prstGeom prst="ellipse">
            <a:avLst/>
          </a:prstGeom>
          <a:solidFill>
            <a:srgbClr val="4A7CFF">
              <a:alpha val="32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5764" y="4877254"/>
            <a:ext cx="75994" cy="75994"/>
          </a:xfrm>
          <a:prstGeom prst="ellipse">
            <a:avLst/>
          </a:prstGeom>
          <a:solidFill>
            <a:srgbClr val="FFD700">
              <a:alpha val="35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65048" y="2012329"/>
            <a:ext cx="74140" cy="74140"/>
          </a:xfrm>
          <a:prstGeom prst="ellipse">
            <a:avLst/>
          </a:prstGeom>
          <a:solidFill>
            <a:srgbClr val="FF3333">
              <a:alpha val="4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5153" y="2420485"/>
            <a:ext cx="51376" cy="51376"/>
          </a:xfrm>
          <a:prstGeom prst="ellipse">
            <a:avLst/>
          </a:prstGeom>
          <a:solidFill>
            <a:srgbClr val="FF3333">
              <a:alpha val="4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67504" y="4876091"/>
            <a:ext cx="43640" cy="43640"/>
          </a:xfrm>
          <a:prstGeom prst="ellipse">
            <a:avLst/>
          </a:prstGeom>
          <a:solidFill>
            <a:srgbClr val="FF3333">
              <a:alpha val="37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87070" y="4878635"/>
            <a:ext cx="65006" cy="65006"/>
          </a:xfrm>
          <a:prstGeom prst="ellipse">
            <a:avLst/>
          </a:prstGeom>
          <a:solidFill>
            <a:srgbClr val="39FF14">
              <a:alpha val="19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39954" y="5411607"/>
            <a:ext cx="93374" cy="93374"/>
          </a:xfrm>
          <a:prstGeom prst="ellipse">
            <a:avLst/>
          </a:prstGeom>
          <a:solidFill>
            <a:srgbClr val="00F0FF">
              <a:alpha val="2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92684" y="3518323"/>
            <a:ext cx="49760" cy="49760"/>
          </a:xfrm>
          <a:prstGeom prst="ellipse">
            <a:avLst/>
          </a:prstGeom>
          <a:solidFill>
            <a:srgbClr val="00F0FF">
              <a:alpha val="25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47958" y="1079654"/>
            <a:ext cx="35792" cy="35792"/>
          </a:xfrm>
          <a:prstGeom prst="ellipse">
            <a:avLst/>
          </a:prstGeom>
          <a:solidFill>
            <a:srgbClr val="FFD700">
              <a:alpha val="36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283" y="3232567"/>
            <a:ext cx="73378" cy="73378"/>
          </a:xfrm>
          <a:prstGeom prst="ellipse">
            <a:avLst/>
          </a:prstGeom>
          <a:solidFill>
            <a:srgbClr val="FFD700">
              <a:alpha val="45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51613" y="4309310"/>
            <a:ext cx="60926" cy="60926"/>
          </a:xfrm>
          <a:prstGeom prst="ellipse">
            <a:avLst/>
          </a:prstGeom>
          <a:solidFill>
            <a:srgbClr val="00F0FF">
              <a:alpha val="25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74298" y="989914"/>
            <a:ext cx="34112" cy="34112"/>
          </a:xfrm>
          <a:prstGeom prst="ellipse">
            <a:avLst/>
          </a:prstGeom>
          <a:solidFill>
            <a:srgbClr val="FF00FF">
              <a:alpha val="49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960184" y="5188709"/>
            <a:ext cx="64520" cy="64520"/>
          </a:xfrm>
          <a:prstGeom prst="ellipse">
            <a:avLst/>
          </a:prstGeom>
          <a:solidFill>
            <a:srgbClr val="FF00FF">
              <a:alpha val="39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62524" y="2693996"/>
            <a:ext cx="77210" cy="77210"/>
          </a:xfrm>
          <a:prstGeom prst="ellipse">
            <a:avLst/>
          </a:prstGeom>
          <a:solidFill>
            <a:srgbClr val="FF00FF">
              <a:alpha val="46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93078" y="3215245"/>
            <a:ext cx="90346" cy="90346"/>
          </a:xfrm>
          <a:prstGeom prst="ellipse">
            <a:avLst/>
          </a:prstGeom>
          <a:solidFill>
            <a:srgbClr val="FFD700">
              <a:alpha val="28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000" y="100000"/>
            <a:ext cx="3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151530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000" y="1100000"/>
            <a:ext cx="4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project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000" y="1600000"/>
            <a:ext cx="3000000" cy="20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0000" y="2000000"/>
            <a:ext cx="5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Gem Hunter 2D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2D dungeon crawler на Python + Pygame.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Процедурная генерация BFS-лабиринтов,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15 уровней (10×10 → 24×24), 4 типа врагов,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система ачивок. Встроенный редактор карт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с 5 кистями, зумом и панорамированием.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Вся графика — примитивы Pygame, весь звук —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WAV-синтез. Ноль внешних ассетов.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Стек: Python, Pygame, PyInstaller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Строк кода: ~3000  |  Роль: solo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00000" y="900000"/>
            <a:ext cx="5000000" cy="3500000"/>
          </a:xfrm>
          <a:prstGeom prst="rect">
            <a:avLst/>
          </a:prstGeom>
          <a:solidFill>
            <a:srgbClr val="12122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0000" y="23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AA"/>
                </a:solidFill>
                <a:latin typeface="Segoe UI"/>
              </a:defRPr>
            </a:pPr>
            <a:r>
              <a:t>[screenshot]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22551" y="3539407"/>
            <a:ext cx="69770" cy="69770"/>
          </a:xfrm>
          <a:prstGeom prst="ellipse">
            <a:avLst/>
          </a:prstGeom>
          <a:solidFill>
            <a:srgbClr val="39FF14">
              <a:alpha val="25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29569" y="5614846"/>
            <a:ext cx="66474" cy="66474"/>
          </a:xfrm>
          <a:prstGeom prst="ellipse">
            <a:avLst/>
          </a:prstGeom>
          <a:solidFill>
            <a:srgbClr val="00F0FF">
              <a:alpha val="47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33405" y="3280164"/>
            <a:ext cx="84992" cy="84992"/>
          </a:xfrm>
          <a:prstGeom prst="ellipse">
            <a:avLst/>
          </a:prstGeom>
          <a:solidFill>
            <a:srgbClr val="39FF14">
              <a:alpha val="45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84359" y="5431793"/>
            <a:ext cx="82636" cy="82636"/>
          </a:xfrm>
          <a:prstGeom prst="ellipse">
            <a:avLst/>
          </a:prstGeom>
          <a:solidFill>
            <a:srgbClr val="FF00FF">
              <a:alpha val="4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39" y="1245530"/>
            <a:ext cx="55764" cy="55764"/>
          </a:xfrm>
          <a:prstGeom prst="ellipse">
            <a:avLst/>
          </a:prstGeom>
          <a:solidFill>
            <a:srgbClr val="FF00FF">
              <a:alpha val="45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11094" y="4759561"/>
            <a:ext cx="57526" cy="57526"/>
          </a:xfrm>
          <a:prstGeom prst="ellipse">
            <a:avLst/>
          </a:prstGeom>
          <a:solidFill>
            <a:srgbClr val="39FF14">
              <a:alpha val="33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1572" y="645048"/>
            <a:ext cx="70526" cy="70526"/>
          </a:xfrm>
          <a:prstGeom prst="ellipse">
            <a:avLst/>
          </a:prstGeom>
          <a:solidFill>
            <a:srgbClr val="4A7CFF">
              <a:alpha val="17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29772" y="5445900"/>
            <a:ext cx="48560" cy="48560"/>
          </a:xfrm>
          <a:prstGeom prst="ellipse">
            <a:avLst/>
          </a:prstGeom>
          <a:solidFill>
            <a:srgbClr val="FF3333">
              <a:alpha val="4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74278" y="2905610"/>
            <a:ext cx="32336" cy="32336"/>
          </a:xfrm>
          <a:prstGeom prst="ellipse">
            <a:avLst/>
          </a:prstGeom>
          <a:solidFill>
            <a:srgbClr val="4A7CFF">
              <a:alpha val="2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620" y="6370284"/>
            <a:ext cx="76482" cy="76482"/>
          </a:xfrm>
          <a:prstGeom prst="ellipse">
            <a:avLst/>
          </a:prstGeom>
          <a:solidFill>
            <a:srgbClr val="00F0FF">
              <a:alpha val="48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3249" y="4950699"/>
            <a:ext cx="30676" cy="30676"/>
          </a:xfrm>
          <a:prstGeom prst="ellipse">
            <a:avLst/>
          </a:prstGeom>
          <a:solidFill>
            <a:srgbClr val="4A7CFF">
              <a:alpha val="2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0542" y="1862557"/>
            <a:ext cx="62580" cy="62580"/>
          </a:xfrm>
          <a:prstGeom prst="ellipse">
            <a:avLst/>
          </a:prstGeom>
          <a:solidFill>
            <a:srgbClr val="FFD700">
              <a:alpha val="48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5749" y="2322230"/>
            <a:ext cx="38418" cy="38418"/>
          </a:xfrm>
          <a:prstGeom prst="ellipse">
            <a:avLst/>
          </a:prstGeom>
          <a:solidFill>
            <a:srgbClr val="39FF14">
              <a:alpha val="21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81761" y="4710322"/>
            <a:ext cx="99878" cy="99878"/>
          </a:xfrm>
          <a:prstGeom prst="ellipse">
            <a:avLst/>
          </a:prstGeom>
          <a:solidFill>
            <a:srgbClr val="FFD700">
              <a:alpha val="46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62034" y="5589285"/>
            <a:ext cx="70318" cy="70318"/>
          </a:xfrm>
          <a:prstGeom prst="ellipse">
            <a:avLst/>
          </a:prstGeom>
          <a:solidFill>
            <a:srgbClr val="39FF14">
              <a:alpha val="26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38400" y="856617"/>
            <a:ext cx="65726" cy="65726"/>
          </a:xfrm>
          <a:prstGeom prst="ellipse">
            <a:avLst/>
          </a:prstGeom>
          <a:solidFill>
            <a:srgbClr val="39FF14">
              <a:alpha val="1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92923" y="215573"/>
            <a:ext cx="91230" cy="91230"/>
          </a:xfrm>
          <a:prstGeom prst="ellipse">
            <a:avLst/>
          </a:prstGeom>
          <a:solidFill>
            <a:srgbClr val="FF3333">
              <a:alpha val="24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93693" y="524620"/>
            <a:ext cx="55990" cy="55990"/>
          </a:xfrm>
          <a:prstGeom prst="ellipse">
            <a:avLst/>
          </a:prstGeom>
          <a:solidFill>
            <a:srgbClr val="39FF14">
              <a:alpha val="24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85948" y="223898"/>
            <a:ext cx="98844" cy="98844"/>
          </a:xfrm>
          <a:prstGeom prst="ellipse">
            <a:avLst/>
          </a:prstGeom>
          <a:solidFill>
            <a:srgbClr val="FF3333">
              <a:alpha val="19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94421" y="6196783"/>
            <a:ext cx="81324" cy="81324"/>
          </a:xfrm>
          <a:prstGeom prst="ellipse">
            <a:avLst/>
          </a:prstGeom>
          <a:solidFill>
            <a:srgbClr val="FF00FF">
              <a:alpha val="21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95866" y="1342779"/>
            <a:ext cx="44470" cy="44470"/>
          </a:xfrm>
          <a:prstGeom prst="ellipse">
            <a:avLst/>
          </a:prstGeom>
          <a:solidFill>
            <a:srgbClr val="FF00FF">
              <a:alpha val="16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73318" y="2623872"/>
            <a:ext cx="71354" cy="71354"/>
          </a:xfrm>
          <a:prstGeom prst="ellipse">
            <a:avLst/>
          </a:prstGeom>
          <a:solidFill>
            <a:srgbClr val="39FF14">
              <a:alpha val="16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94176" y="842961"/>
            <a:ext cx="70872" cy="70872"/>
          </a:xfrm>
          <a:prstGeom prst="ellipse">
            <a:avLst/>
          </a:prstGeom>
          <a:solidFill>
            <a:srgbClr val="39FF14">
              <a:alpha val="3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2755" y="4108750"/>
            <a:ext cx="39832" cy="39832"/>
          </a:xfrm>
          <a:prstGeom prst="ellipse">
            <a:avLst/>
          </a:prstGeom>
          <a:solidFill>
            <a:srgbClr val="FFD700">
              <a:alpha val="17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49002" y="2097821"/>
            <a:ext cx="59482" cy="59482"/>
          </a:xfrm>
          <a:prstGeom prst="ellipse">
            <a:avLst/>
          </a:prstGeom>
          <a:solidFill>
            <a:srgbClr val="FFD700">
              <a:alpha val="48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000" y="100000"/>
            <a:ext cx="3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151530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000" y="1100000"/>
            <a:ext cx="4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project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000" y="1600000"/>
            <a:ext cx="3000000" cy="20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0000" y="2000000"/>
            <a:ext cx="5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Zombie Survival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2D волновый survival-шутер. Игрок движется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вертикально, стреляет горизонтально по волнам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зомби. 4 типа врагов (Normal, Fast, Tank, Spitter)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открываются по мере прохождения.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После каждой волны — выбор апгрейда: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Урон, Скорострельность, Скорость, Max HP.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Все звуки синтезируются процедурно.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Бесконечные волны с растущей сложностью.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Стек: Python, Pygame, PyInstaller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Роль: solo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00000" y="900000"/>
            <a:ext cx="5000000" cy="3500000"/>
          </a:xfrm>
          <a:prstGeom prst="rect">
            <a:avLst/>
          </a:prstGeom>
          <a:solidFill>
            <a:srgbClr val="121228"/>
          </a:solidFill>
          <a:ln w="127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0000" y="23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AA"/>
                </a:solidFill>
                <a:latin typeface="Segoe UI"/>
              </a:defRPr>
            </a:pPr>
            <a:r>
              <a:t>[screenshot]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63893" y="3167639"/>
            <a:ext cx="79200" cy="79200"/>
          </a:xfrm>
          <a:prstGeom prst="ellipse">
            <a:avLst/>
          </a:prstGeom>
          <a:solidFill>
            <a:srgbClr val="FF00FF">
              <a:alpha val="21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0512" y="790617"/>
            <a:ext cx="47936" cy="47936"/>
          </a:xfrm>
          <a:prstGeom prst="ellipse">
            <a:avLst/>
          </a:prstGeom>
          <a:solidFill>
            <a:srgbClr val="FF00FF">
              <a:alpha val="4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54057" y="1815294"/>
            <a:ext cx="82520" cy="82520"/>
          </a:xfrm>
          <a:prstGeom prst="ellipse">
            <a:avLst/>
          </a:prstGeom>
          <a:solidFill>
            <a:srgbClr val="FF3333">
              <a:alpha val="1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36659" y="3860560"/>
            <a:ext cx="81180" cy="81180"/>
          </a:xfrm>
          <a:prstGeom prst="ellipse">
            <a:avLst/>
          </a:prstGeom>
          <a:solidFill>
            <a:srgbClr val="4A7CFF">
              <a:alpha val="35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09121" y="804539"/>
            <a:ext cx="93582" cy="93582"/>
          </a:xfrm>
          <a:prstGeom prst="ellipse">
            <a:avLst/>
          </a:prstGeom>
          <a:solidFill>
            <a:srgbClr val="FF00FF">
              <a:alpha val="41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33899" y="4421851"/>
            <a:ext cx="83432" cy="83432"/>
          </a:xfrm>
          <a:prstGeom prst="ellipse">
            <a:avLst/>
          </a:prstGeom>
          <a:solidFill>
            <a:srgbClr val="4A7CFF">
              <a:alpha val="46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37377" y="6167692"/>
            <a:ext cx="44906" cy="44906"/>
          </a:xfrm>
          <a:prstGeom prst="ellipse">
            <a:avLst/>
          </a:prstGeom>
          <a:solidFill>
            <a:srgbClr val="FF3333">
              <a:alpha val="24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8732" y="3301379"/>
            <a:ext cx="79440" cy="79440"/>
          </a:xfrm>
          <a:prstGeom prst="ellipse">
            <a:avLst/>
          </a:prstGeom>
          <a:solidFill>
            <a:srgbClr val="00F0FF">
              <a:alpha val="3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57418" y="2045811"/>
            <a:ext cx="41278" cy="41278"/>
          </a:xfrm>
          <a:prstGeom prst="ellipse">
            <a:avLst/>
          </a:prstGeom>
          <a:solidFill>
            <a:srgbClr val="4A7CFF">
              <a:alpha val="46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46337" y="1819813"/>
            <a:ext cx="48630" cy="48630"/>
          </a:xfrm>
          <a:prstGeom prst="ellipse">
            <a:avLst/>
          </a:prstGeom>
          <a:solidFill>
            <a:srgbClr val="FFD700">
              <a:alpha val="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0851" y="4171530"/>
            <a:ext cx="55408" cy="55408"/>
          </a:xfrm>
          <a:prstGeom prst="ellipse">
            <a:avLst/>
          </a:prstGeom>
          <a:solidFill>
            <a:srgbClr val="FF00FF">
              <a:alpha val="4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69194" y="3883240"/>
            <a:ext cx="88344" cy="88344"/>
          </a:xfrm>
          <a:prstGeom prst="ellipse">
            <a:avLst/>
          </a:prstGeom>
          <a:solidFill>
            <a:srgbClr val="39FF14">
              <a:alpha val="34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32" y="1206884"/>
            <a:ext cx="50748" cy="50748"/>
          </a:xfrm>
          <a:prstGeom prst="ellipse">
            <a:avLst/>
          </a:prstGeom>
          <a:solidFill>
            <a:srgbClr val="FFD700">
              <a:alpha val="1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26068" y="5951624"/>
            <a:ext cx="76796" cy="76796"/>
          </a:xfrm>
          <a:prstGeom prst="ellipse">
            <a:avLst/>
          </a:prstGeom>
          <a:solidFill>
            <a:srgbClr val="FF3333">
              <a:alpha val="44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21412" y="5306418"/>
            <a:ext cx="55906" cy="55906"/>
          </a:xfrm>
          <a:prstGeom prst="ellipse">
            <a:avLst/>
          </a:prstGeom>
          <a:solidFill>
            <a:srgbClr val="39FF14">
              <a:alpha val="2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22043" y="2436929"/>
            <a:ext cx="96818" cy="96818"/>
          </a:xfrm>
          <a:prstGeom prst="ellipse">
            <a:avLst/>
          </a:prstGeom>
          <a:solidFill>
            <a:srgbClr val="FF3333">
              <a:alpha val="1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83634" y="5953472"/>
            <a:ext cx="58828" cy="58828"/>
          </a:xfrm>
          <a:prstGeom prst="ellipse">
            <a:avLst/>
          </a:prstGeom>
          <a:solidFill>
            <a:srgbClr val="39FF14">
              <a:alpha val="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62426" y="2543073"/>
            <a:ext cx="74988" cy="74988"/>
          </a:xfrm>
          <a:prstGeom prst="ellipse">
            <a:avLst/>
          </a:prstGeom>
          <a:solidFill>
            <a:srgbClr val="FF00FF">
              <a:alpha val="24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63802" y="2197487"/>
            <a:ext cx="79404" cy="79404"/>
          </a:xfrm>
          <a:prstGeom prst="ellipse">
            <a:avLst/>
          </a:prstGeom>
          <a:solidFill>
            <a:srgbClr val="39FF14">
              <a:alpha val="44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53781" y="1529142"/>
            <a:ext cx="81938" cy="81938"/>
          </a:xfrm>
          <a:prstGeom prst="ellipse">
            <a:avLst/>
          </a:prstGeom>
          <a:solidFill>
            <a:srgbClr val="00F0FF">
              <a:alpha val="20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4526" y="1767360"/>
            <a:ext cx="51060" cy="51060"/>
          </a:xfrm>
          <a:prstGeom prst="ellipse">
            <a:avLst/>
          </a:prstGeom>
          <a:solidFill>
            <a:srgbClr val="39FF14">
              <a:alpha val="19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56786" y="2941208"/>
            <a:ext cx="52302" cy="52302"/>
          </a:xfrm>
          <a:prstGeom prst="ellipse">
            <a:avLst/>
          </a:prstGeom>
          <a:solidFill>
            <a:srgbClr val="FFD700">
              <a:alpha val="3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45728" y="1224462"/>
            <a:ext cx="83752" cy="83752"/>
          </a:xfrm>
          <a:prstGeom prst="ellipse">
            <a:avLst/>
          </a:prstGeom>
          <a:solidFill>
            <a:srgbClr val="FFD700">
              <a:alpha val="30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92646" y="752673"/>
            <a:ext cx="39170" cy="39170"/>
          </a:xfrm>
          <a:prstGeom prst="ellipse">
            <a:avLst/>
          </a:prstGeom>
          <a:solidFill>
            <a:srgbClr val="39FF14">
              <a:alpha val="4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8999" y="793197"/>
            <a:ext cx="43962" cy="43962"/>
          </a:xfrm>
          <a:prstGeom prst="ellipse">
            <a:avLst/>
          </a:prstGeom>
          <a:solidFill>
            <a:srgbClr val="FFD700">
              <a:alpha val="33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000" y="100000"/>
            <a:ext cx="3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151530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000" y="1100000"/>
            <a:ext cx="4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project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000" y="1600000"/>
            <a:ext cx="3000000" cy="20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0000" y="2000000"/>
            <a:ext cx="5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Gem Hunter 3D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3D лабиринт от первого лица на C++17 и raylib.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10 процедурных уровней (8×8 → 26×26).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3 типа врагов: Scout (быстрый), Soldier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(сбалансированный), Brute (медленный, живучий).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Greedy mesh merge для производительности.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Миникарта в углу экрана. Три жизни.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Процедурный синтез звука на лету.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Настройки громкости и чувствительности мыши.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Стек: C++17, raylib 5.5, CMake, MinGW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Строк кода: ~2500  |  Роль: solo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00000" y="900000"/>
            <a:ext cx="5000000" cy="3500000"/>
          </a:xfrm>
          <a:prstGeom prst="rect">
            <a:avLst/>
          </a:prstGeom>
          <a:solidFill>
            <a:srgbClr val="121228"/>
          </a:solidFill>
          <a:ln w="1270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0000" y="23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AA"/>
                </a:solidFill>
                <a:latin typeface="Segoe UI"/>
              </a:defRPr>
            </a:pPr>
            <a:r>
              <a:t>[screenshot]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438447" y="2118672"/>
            <a:ext cx="33094" cy="33094"/>
          </a:xfrm>
          <a:prstGeom prst="ellipse">
            <a:avLst/>
          </a:prstGeom>
          <a:solidFill>
            <a:srgbClr val="FFD700">
              <a:alpha val="4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68360" y="5965513"/>
            <a:ext cx="45806" cy="45806"/>
          </a:xfrm>
          <a:prstGeom prst="ellipse">
            <a:avLst/>
          </a:prstGeom>
          <a:solidFill>
            <a:srgbClr val="FF3333">
              <a:alpha val="3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68771" y="738028"/>
            <a:ext cx="60374" cy="60374"/>
          </a:xfrm>
          <a:prstGeom prst="ellipse">
            <a:avLst/>
          </a:prstGeom>
          <a:solidFill>
            <a:srgbClr val="39FF14">
              <a:alpha val="48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32773" y="5116008"/>
            <a:ext cx="53478" cy="53478"/>
          </a:xfrm>
          <a:prstGeom prst="ellipse">
            <a:avLst/>
          </a:prstGeom>
          <a:solidFill>
            <a:srgbClr val="FFD700">
              <a:alpha val="38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96213" y="6021924"/>
            <a:ext cx="36348" cy="36348"/>
          </a:xfrm>
          <a:prstGeom prst="ellipse">
            <a:avLst/>
          </a:prstGeom>
          <a:solidFill>
            <a:srgbClr val="FFD700">
              <a:alpha val="45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55745" y="2279001"/>
            <a:ext cx="70720" cy="70720"/>
          </a:xfrm>
          <a:prstGeom prst="ellipse">
            <a:avLst/>
          </a:prstGeom>
          <a:solidFill>
            <a:srgbClr val="4A7CFF">
              <a:alpha val="2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22007" y="4939292"/>
            <a:ext cx="99578" cy="99578"/>
          </a:xfrm>
          <a:prstGeom prst="ellipse">
            <a:avLst/>
          </a:prstGeom>
          <a:solidFill>
            <a:srgbClr val="FF3333">
              <a:alpha val="4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64761" y="576754"/>
            <a:ext cx="72786" cy="72786"/>
          </a:xfrm>
          <a:prstGeom prst="ellipse">
            <a:avLst/>
          </a:prstGeom>
          <a:solidFill>
            <a:srgbClr val="FFD700">
              <a:alpha val="26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59103" y="3362739"/>
            <a:ext cx="70956" cy="70956"/>
          </a:xfrm>
          <a:prstGeom prst="ellipse">
            <a:avLst/>
          </a:prstGeom>
          <a:solidFill>
            <a:srgbClr val="FF3333">
              <a:alpha val="33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62540" y="2342862"/>
            <a:ext cx="54252" cy="54252"/>
          </a:xfrm>
          <a:prstGeom prst="ellipse">
            <a:avLst/>
          </a:prstGeom>
          <a:solidFill>
            <a:srgbClr val="4A7CFF">
              <a:alpha val="16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79917" y="328168"/>
            <a:ext cx="84968" cy="84968"/>
          </a:xfrm>
          <a:prstGeom prst="ellipse">
            <a:avLst/>
          </a:prstGeom>
          <a:solidFill>
            <a:srgbClr val="39FF14">
              <a:alpha val="32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38014" y="3493614"/>
            <a:ext cx="82070" cy="82070"/>
          </a:xfrm>
          <a:prstGeom prst="ellipse">
            <a:avLst/>
          </a:prstGeom>
          <a:solidFill>
            <a:srgbClr val="FF3333">
              <a:alpha val="47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61906" y="2638377"/>
            <a:ext cx="78990" cy="78990"/>
          </a:xfrm>
          <a:prstGeom prst="ellipse">
            <a:avLst/>
          </a:prstGeom>
          <a:solidFill>
            <a:srgbClr val="4A7CFF">
              <a:alpha val="35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38630" y="4878372"/>
            <a:ext cx="99092" cy="99092"/>
          </a:xfrm>
          <a:prstGeom prst="ellipse">
            <a:avLst/>
          </a:prstGeom>
          <a:solidFill>
            <a:srgbClr val="4A7CFF">
              <a:alpha val="41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41634" y="3664033"/>
            <a:ext cx="41548" cy="41548"/>
          </a:xfrm>
          <a:prstGeom prst="ellipse">
            <a:avLst/>
          </a:prstGeom>
          <a:solidFill>
            <a:srgbClr val="00F0FF">
              <a:alpha val="49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24355" y="883579"/>
            <a:ext cx="86590" cy="86590"/>
          </a:xfrm>
          <a:prstGeom prst="ellipse">
            <a:avLst/>
          </a:prstGeom>
          <a:solidFill>
            <a:srgbClr val="4A7CFF">
              <a:alpha val="1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73571" y="4364266"/>
            <a:ext cx="61292" cy="61292"/>
          </a:xfrm>
          <a:prstGeom prst="ellipse">
            <a:avLst/>
          </a:prstGeom>
          <a:solidFill>
            <a:srgbClr val="4A7CFF">
              <a:alpha val="15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4170" y="1696490"/>
            <a:ext cx="52464" cy="52464"/>
          </a:xfrm>
          <a:prstGeom prst="ellipse">
            <a:avLst/>
          </a:prstGeom>
          <a:solidFill>
            <a:srgbClr val="00F0FF">
              <a:alpha val="3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21062" y="1563842"/>
            <a:ext cx="73028" cy="73028"/>
          </a:xfrm>
          <a:prstGeom prst="ellipse">
            <a:avLst/>
          </a:prstGeom>
          <a:solidFill>
            <a:srgbClr val="39FF14">
              <a:alpha val="3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23003" y="391054"/>
            <a:ext cx="38232" cy="38232"/>
          </a:xfrm>
          <a:prstGeom prst="ellipse">
            <a:avLst/>
          </a:prstGeom>
          <a:solidFill>
            <a:srgbClr val="FFD700">
              <a:alpha val="1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27955" y="6271331"/>
            <a:ext cx="56410" cy="56410"/>
          </a:xfrm>
          <a:prstGeom prst="ellipse">
            <a:avLst/>
          </a:prstGeom>
          <a:solidFill>
            <a:srgbClr val="FF3333">
              <a:alpha val="39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042" y="1694313"/>
            <a:ext cx="83836" cy="83836"/>
          </a:xfrm>
          <a:prstGeom prst="ellipse">
            <a:avLst/>
          </a:prstGeom>
          <a:solidFill>
            <a:srgbClr val="00F0FF">
              <a:alpha val="43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31702" y="3945759"/>
            <a:ext cx="35664" cy="35664"/>
          </a:xfrm>
          <a:prstGeom prst="ellipse">
            <a:avLst/>
          </a:prstGeom>
          <a:solidFill>
            <a:srgbClr val="00F0FF">
              <a:alpha val="32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56889" y="1203614"/>
            <a:ext cx="67250" cy="67250"/>
          </a:xfrm>
          <a:prstGeom prst="ellipse">
            <a:avLst/>
          </a:prstGeom>
          <a:solidFill>
            <a:srgbClr val="FF3333">
              <a:alpha val="4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16938" y="4075107"/>
            <a:ext cx="38632" cy="38632"/>
          </a:xfrm>
          <a:prstGeom prst="ellipse">
            <a:avLst/>
          </a:prstGeom>
          <a:solidFill>
            <a:srgbClr val="FF3333">
              <a:alpha val="3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000" y="100000"/>
            <a:ext cx="3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151530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000" y="1100000"/>
            <a:ext cx="4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project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000" y="1600000"/>
            <a:ext cx="3000000" cy="2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0000" y="2000000"/>
            <a:ext cx="5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Minecraft Mods (Java + Fabric)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Два мода для Minecraft 26.1.2 с Fabric Loader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0.19.2 и Fabric API 0.149.1.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⚔️ RPG Levels Mod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Монстры получают уровень (1–100). Урон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масштабируется по соотношению уровней.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XP за убийство. 3 миксина, рейкаст прицела.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☠️ Death Marker Mod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Вечный Soul Torch на месте смерти.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Сканирование 3×3×2. Без миксинов, только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Fabric API события. Частицы soul.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Стек: Java, Fabric Loom, Gradle, Minecraft 26.1.2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Роль: solo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00000" y="900000"/>
            <a:ext cx="5000000" cy="3500000"/>
          </a:xfrm>
          <a:prstGeom prst="rect">
            <a:avLst/>
          </a:prstGeom>
          <a:solidFill>
            <a:srgbClr val="121228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0000" y="23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AA"/>
                </a:solidFill>
                <a:latin typeface="Segoe UI"/>
              </a:defRPr>
            </a:pPr>
            <a:r>
              <a:t>[screenshot]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44153" y="4750195"/>
            <a:ext cx="91032" cy="91032"/>
          </a:xfrm>
          <a:prstGeom prst="ellipse">
            <a:avLst/>
          </a:prstGeom>
          <a:solidFill>
            <a:srgbClr val="4A7CFF">
              <a:alpha val="32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7581" y="1665912"/>
            <a:ext cx="54202" cy="54202"/>
          </a:xfrm>
          <a:prstGeom prst="ellipse">
            <a:avLst/>
          </a:prstGeom>
          <a:solidFill>
            <a:srgbClr val="FFD700">
              <a:alpha val="3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9351" y="1640570"/>
            <a:ext cx="42336" cy="42336"/>
          </a:xfrm>
          <a:prstGeom prst="ellipse">
            <a:avLst/>
          </a:prstGeom>
          <a:solidFill>
            <a:srgbClr val="4A7CFF">
              <a:alpha val="25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3455" y="4601144"/>
            <a:ext cx="35488" cy="35488"/>
          </a:xfrm>
          <a:prstGeom prst="ellipse">
            <a:avLst/>
          </a:prstGeom>
          <a:solidFill>
            <a:srgbClr val="FFD700">
              <a:alpha val="49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74671" y="5560178"/>
            <a:ext cx="50642" cy="50642"/>
          </a:xfrm>
          <a:prstGeom prst="ellipse">
            <a:avLst/>
          </a:prstGeom>
          <a:solidFill>
            <a:srgbClr val="FFD700">
              <a:alpha val="15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45864" y="610963"/>
            <a:ext cx="37804" cy="37804"/>
          </a:xfrm>
          <a:prstGeom prst="ellipse">
            <a:avLst/>
          </a:prstGeom>
          <a:solidFill>
            <a:srgbClr val="00F0FF">
              <a:alpha val="2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2159" y="5112990"/>
            <a:ext cx="33942" cy="33942"/>
          </a:xfrm>
          <a:prstGeom prst="ellipse">
            <a:avLst/>
          </a:prstGeom>
          <a:solidFill>
            <a:srgbClr val="4A7CFF">
              <a:alpha val="26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5633" y="1689453"/>
            <a:ext cx="98042" cy="98042"/>
          </a:xfrm>
          <a:prstGeom prst="ellipse">
            <a:avLst/>
          </a:prstGeom>
          <a:solidFill>
            <a:srgbClr val="FF00FF">
              <a:alpha val="3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64233" y="117966"/>
            <a:ext cx="41138" cy="41138"/>
          </a:xfrm>
          <a:prstGeom prst="ellipse">
            <a:avLst/>
          </a:prstGeom>
          <a:solidFill>
            <a:srgbClr val="4A7CFF">
              <a:alpha val="37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04162" y="4703916"/>
            <a:ext cx="40904" cy="40904"/>
          </a:xfrm>
          <a:prstGeom prst="ellipse">
            <a:avLst/>
          </a:prstGeom>
          <a:solidFill>
            <a:srgbClr val="FF3333">
              <a:alpha val="23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19212" y="4368446"/>
            <a:ext cx="67884" cy="67884"/>
          </a:xfrm>
          <a:prstGeom prst="ellipse">
            <a:avLst/>
          </a:prstGeom>
          <a:solidFill>
            <a:srgbClr val="00F0FF">
              <a:alpha val="1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88649" y="3436733"/>
            <a:ext cx="44128" cy="44128"/>
          </a:xfrm>
          <a:prstGeom prst="ellipse">
            <a:avLst/>
          </a:prstGeom>
          <a:solidFill>
            <a:srgbClr val="39FF14">
              <a:alpha val="28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8340" y="5830301"/>
            <a:ext cx="30070" cy="30070"/>
          </a:xfrm>
          <a:prstGeom prst="ellipse">
            <a:avLst/>
          </a:prstGeom>
          <a:solidFill>
            <a:srgbClr val="FF00FF">
              <a:alpha val="22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8221" y="4002933"/>
            <a:ext cx="79212" cy="79212"/>
          </a:xfrm>
          <a:prstGeom prst="ellipse">
            <a:avLst/>
          </a:prstGeom>
          <a:solidFill>
            <a:srgbClr val="FF3333">
              <a:alpha val="28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97372" y="4821972"/>
            <a:ext cx="56016" cy="56016"/>
          </a:xfrm>
          <a:prstGeom prst="ellipse">
            <a:avLst/>
          </a:prstGeom>
          <a:solidFill>
            <a:srgbClr val="FF3333">
              <a:alpha val="24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25241" y="2673819"/>
            <a:ext cx="73592" cy="73592"/>
          </a:xfrm>
          <a:prstGeom prst="ellipse">
            <a:avLst/>
          </a:prstGeom>
          <a:solidFill>
            <a:srgbClr val="00F0FF">
              <a:alpha val="48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48424" y="1197930"/>
            <a:ext cx="62294" cy="62294"/>
          </a:xfrm>
          <a:prstGeom prst="ellipse">
            <a:avLst/>
          </a:prstGeom>
          <a:solidFill>
            <a:srgbClr val="FF3333">
              <a:alpha val="18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7940" y="3953294"/>
            <a:ext cx="93808" cy="93808"/>
          </a:xfrm>
          <a:prstGeom prst="ellipse">
            <a:avLst/>
          </a:prstGeom>
          <a:solidFill>
            <a:srgbClr val="FF00FF">
              <a:alpha val="3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12234" y="3804922"/>
            <a:ext cx="96698" cy="96698"/>
          </a:xfrm>
          <a:prstGeom prst="ellipse">
            <a:avLst/>
          </a:prstGeom>
          <a:solidFill>
            <a:srgbClr val="FF00FF">
              <a:alpha val="49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57114" y="3576611"/>
            <a:ext cx="80298" cy="80298"/>
          </a:xfrm>
          <a:prstGeom prst="ellipse">
            <a:avLst/>
          </a:prstGeom>
          <a:solidFill>
            <a:srgbClr val="00F0FF">
              <a:alpha val="2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38612" y="71269"/>
            <a:ext cx="65362" cy="65362"/>
          </a:xfrm>
          <a:prstGeom prst="ellipse">
            <a:avLst/>
          </a:prstGeom>
          <a:solidFill>
            <a:srgbClr val="FFD700">
              <a:alpha val="25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2073" y="1840290"/>
            <a:ext cx="54550" cy="54550"/>
          </a:xfrm>
          <a:prstGeom prst="ellipse">
            <a:avLst/>
          </a:prstGeom>
          <a:solidFill>
            <a:srgbClr val="4A7CFF">
              <a:alpha val="49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78619" y="5462532"/>
            <a:ext cx="43150" cy="43150"/>
          </a:xfrm>
          <a:prstGeom prst="ellipse">
            <a:avLst/>
          </a:prstGeom>
          <a:solidFill>
            <a:srgbClr val="00F0FF">
              <a:alpha val="4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45704" y="3771994"/>
            <a:ext cx="63852" cy="63852"/>
          </a:xfrm>
          <a:prstGeom prst="ellipse">
            <a:avLst/>
          </a:prstGeom>
          <a:solidFill>
            <a:srgbClr val="00F0FF">
              <a:alpha val="4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578648" y="2545444"/>
            <a:ext cx="80616" cy="80616"/>
          </a:xfrm>
          <a:prstGeom prst="ellipse">
            <a:avLst/>
          </a:prstGeom>
          <a:solidFill>
            <a:srgbClr val="00F0FF">
              <a:alpha val="1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0000" y="3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Дополнительные проекты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0000" y="950000"/>
            <a:ext cx="5200000" cy="2000000"/>
          </a:xfrm>
          <a:prstGeom prst="rect">
            <a:avLst/>
          </a:prstGeom>
          <a:solidFill>
            <a:srgbClr val="121228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0000" y="1120000"/>
            <a:ext cx="60000" cy="60000"/>
          </a:xfrm>
          <a:prstGeom prst="ellipse">
            <a:avLst/>
          </a:prstGeom>
          <a:solidFill>
            <a:srgbClr val="4A7CFF">
              <a:alpha val="3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000" y="1050000"/>
            <a:ext cx="4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7CFF"/>
                </a:solidFill>
                <a:latin typeface="Segoe UI"/>
              </a:defRPr>
            </a:pPr>
            <a:r>
              <a:t>Unreal Engine 4 — школьные прототипы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000" y="1450000"/>
            <a:ext cx="46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Первые эксперименты с игровым движком: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сборка уровней, Blueprint-логика,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базовое программирование. (проекты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не сохранились до наших дней)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0000" y="950000"/>
            <a:ext cx="5500000" cy="2000000"/>
          </a:xfrm>
          <a:prstGeom prst="rect">
            <a:avLst/>
          </a:prstGeom>
          <a:solidFill>
            <a:srgbClr val="121228"/>
          </a:solidFill>
          <a:ln w="1270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70000" y="1120000"/>
            <a:ext cx="60000" cy="60000"/>
          </a:xfrm>
          <a:prstGeom prst="ellipse">
            <a:avLst/>
          </a:prstGeom>
          <a:solidFill>
            <a:srgbClr val="FF00FF">
              <a:alpha val="3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0" y="10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00FF"/>
                </a:solidFill>
                <a:latin typeface="Segoe UI"/>
              </a:defRPr>
            </a:pPr>
            <a:r>
              <a:t>C — Обработка заказов доставки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0000" y="1450000"/>
            <a:ext cx="5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Консольное приложение на чистом C: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динамический список заказов,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CRUD-операции, поиск и сортировка,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файловый ввод-вывод, итоговая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обработка всех данных.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000" y="3200000"/>
            <a:ext cx="11200000" cy="1800000"/>
          </a:xfrm>
          <a:prstGeom prst="rect">
            <a:avLst/>
          </a:prstGeom>
          <a:solidFill>
            <a:srgbClr val="12122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70000" y="3370000"/>
            <a:ext cx="60000" cy="60000"/>
          </a:xfrm>
          <a:prstGeom prst="ellipse">
            <a:avLst/>
          </a:prstGeom>
          <a:solidFill>
            <a:srgbClr val="00F0FF">
              <a:alpha val="3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000" y="3300000"/>
            <a:ext cx="10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0FF"/>
                </a:solidFill>
                <a:latin typeface="Segoe UI"/>
              </a:defRPr>
            </a:pPr>
            <a:r>
              <a:t>Единый анимированный лаунчер (Python + tkinter)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000" y="3700000"/>
            <a:ext cx="106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GUI-лаунчер для всех проектов: 3 игры + 4 Minecraft-профиля.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Тёмная тема, градиент, плавающие частицы, ховер-эффекты.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Запускает exe / PowerShell-скрипты. Анимация 60 FPS.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2769" y="4443077"/>
            <a:ext cx="45818" cy="45818"/>
          </a:xfrm>
          <a:prstGeom prst="ellipse">
            <a:avLst/>
          </a:prstGeom>
          <a:solidFill>
            <a:srgbClr val="FFD700">
              <a:alpha val="21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90563" y="4505279"/>
            <a:ext cx="67926" cy="67926"/>
          </a:xfrm>
          <a:prstGeom prst="ellipse">
            <a:avLst/>
          </a:prstGeom>
          <a:solidFill>
            <a:srgbClr val="FFD700">
              <a:alpha val="20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448103" y="971115"/>
            <a:ext cx="64136" cy="64136"/>
          </a:xfrm>
          <a:prstGeom prst="ellipse">
            <a:avLst/>
          </a:prstGeom>
          <a:solidFill>
            <a:srgbClr val="4A7CFF">
              <a:alpha val="26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58467" y="966651"/>
            <a:ext cx="72662" cy="72662"/>
          </a:xfrm>
          <a:prstGeom prst="ellipse">
            <a:avLst/>
          </a:prstGeom>
          <a:solidFill>
            <a:srgbClr val="39FF14">
              <a:alpha val="15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42028" y="1771763"/>
            <a:ext cx="39278" cy="39278"/>
          </a:xfrm>
          <a:prstGeom prst="ellipse">
            <a:avLst/>
          </a:prstGeom>
          <a:solidFill>
            <a:srgbClr val="FF00FF">
              <a:alpha val="18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23986" y="3339662"/>
            <a:ext cx="39660" cy="39660"/>
          </a:xfrm>
          <a:prstGeom prst="ellipse">
            <a:avLst/>
          </a:prstGeom>
          <a:solidFill>
            <a:srgbClr val="00F0FF">
              <a:alpha val="29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24224" y="4915087"/>
            <a:ext cx="85466" cy="85466"/>
          </a:xfrm>
          <a:prstGeom prst="ellipse">
            <a:avLst/>
          </a:prstGeom>
          <a:solidFill>
            <a:srgbClr val="4A7CFF">
              <a:alpha val="3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69321" y="4839767"/>
            <a:ext cx="95836" cy="95836"/>
          </a:xfrm>
          <a:prstGeom prst="ellipse">
            <a:avLst/>
          </a:prstGeom>
          <a:solidFill>
            <a:srgbClr val="FF00FF">
              <a:alpha val="42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96085" y="2031155"/>
            <a:ext cx="44118" cy="44118"/>
          </a:xfrm>
          <a:prstGeom prst="ellipse">
            <a:avLst/>
          </a:prstGeom>
          <a:solidFill>
            <a:srgbClr val="FF00FF">
              <a:alpha val="2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77045" y="1182233"/>
            <a:ext cx="94658" cy="94658"/>
          </a:xfrm>
          <a:prstGeom prst="ellipse">
            <a:avLst/>
          </a:prstGeom>
          <a:solidFill>
            <a:srgbClr val="00F0FF">
              <a:alpha val="34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40342" y="113555"/>
            <a:ext cx="89572" cy="89572"/>
          </a:xfrm>
          <a:prstGeom prst="ellipse">
            <a:avLst/>
          </a:prstGeom>
          <a:solidFill>
            <a:srgbClr val="4A7CFF">
              <a:alpha val="35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9315" y="4080382"/>
            <a:ext cx="95544" cy="95544"/>
          </a:xfrm>
          <a:prstGeom prst="ellipse">
            <a:avLst/>
          </a:prstGeom>
          <a:solidFill>
            <a:srgbClr val="4A7CFF">
              <a:alpha val="27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77781" y="1624118"/>
            <a:ext cx="30374" cy="30374"/>
          </a:xfrm>
          <a:prstGeom prst="ellipse">
            <a:avLst/>
          </a:prstGeom>
          <a:solidFill>
            <a:srgbClr val="FF00FF">
              <a:alpha val="18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73197" y="3214638"/>
            <a:ext cx="89218" cy="89218"/>
          </a:xfrm>
          <a:prstGeom prst="ellipse">
            <a:avLst/>
          </a:prstGeom>
          <a:solidFill>
            <a:srgbClr val="00F0FF">
              <a:alpha val="3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65192" y="1130786"/>
            <a:ext cx="92340" cy="92340"/>
          </a:xfrm>
          <a:prstGeom prst="ellipse">
            <a:avLst/>
          </a:prstGeom>
          <a:solidFill>
            <a:srgbClr val="39FF14">
              <a:alpha val="30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91453" y="6242769"/>
            <a:ext cx="52418" cy="52418"/>
          </a:xfrm>
          <a:prstGeom prst="ellipse">
            <a:avLst/>
          </a:prstGeom>
          <a:solidFill>
            <a:srgbClr val="4A7CFF">
              <a:alpha val="3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54646" y="5764221"/>
            <a:ext cx="35940" cy="35940"/>
          </a:xfrm>
          <a:prstGeom prst="ellipse">
            <a:avLst/>
          </a:prstGeom>
          <a:solidFill>
            <a:srgbClr val="00F0FF">
              <a:alpha val="22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11184" y="904499"/>
            <a:ext cx="90682" cy="90682"/>
          </a:xfrm>
          <a:prstGeom prst="ellipse">
            <a:avLst/>
          </a:prstGeom>
          <a:solidFill>
            <a:srgbClr val="00F0FF">
              <a:alpha val="3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54347" y="5590646"/>
            <a:ext cx="32112" cy="32112"/>
          </a:xfrm>
          <a:prstGeom prst="ellipse">
            <a:avLst/>
          </a:prstGeom>
          <a:solidFill>
            <a:srgbClr val="FF00FF">
              <a:alpha val="3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89799" y="711721"/>
            <a:ext cx="41154" cy="41154"/>
          </a:xfrm>
          <a:prstGeom prst="ellipse">
            <a:avLst/>
          </a:prstGeom>
          <a:solidFill>
            <a:srgbClr val="FF00FF">
              <a:alpha val="20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73255" y="3995461"/>
            <a:ext cx="44708" cy="44708"/>
          </a:xfrm>
          <a:prstGeom prst="ellipse">
            <a:avLst/>
          </a:prstGeom>
          <a:solidFill>
            <a:srgbClr val="FF00FF">
              <a:alpha val="36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15411" y="3672384"/>
            <a:ext cx="50078" cy="50078"/>
          </a:xfrm>
          <a:prstGeom prst="ellipse">
            <a:avLst/>
          </a:prstGeom>
          <a:solidFill>
            <a:srgbClr val="00F0FF">
              <a:alpha val="45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80941" y="5539986"/>
            <a:ext cx="67980" cy="67980"/>
          </a:xfrm>
          <a:prstGeom prst="ellipse">
            <a:avLst/>
          </a:prstGeom>
          <a:solidFill>
            <a:srgbClr val="FF3333">
              <a:alpha val="4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16782" y="4639019"/>
            <a:ext cx="76738" cy="76738"/>
          </a:xfrm>
          <a:prstGeom prst="ellipse">
            <a:avLst/>
          </a:prstGeom>
          <a:solidFill>
            <a:srgbClr val="39FF14">
              <a:alpha val="22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22967" y="2743817"/>
            <a:ext cx="38066" cy="38066"/>
          </a:xfrm>
          <a:prstGeom prst="ellipse">
            <a:avLst/>
          </a:prstGeom>
          <a:solidFill>
            <a:srgbClr val="00F0FF">
              <a:alpha val="42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0000" y="3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Системное администрирование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0000" y="1000000"/>
            <a:ext cx="5500000" cy="1500000"/>
          </a:xfrm>
          <a:prstGeom prst="rect">
            <a:avLst/>
          </a:prstGeom>
          <a:solidFill>
            <a:srgbClr val="121228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5000" y="1275000"/>
            <a:ext cx="50000" cy="50000"/>
          </a:xfrm>
          <a:prstGeom prst="ellipse">
            <a:avLst/>
          </a:prstGeom>
          <a:solidFill>
            <a:srgbClr val="00F0FF">
              <a:alpha val="3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000" y="115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0FF"/>
                </a:solidFill>
                <a:latin typeface="Segoe UI"/>
              </a:defRPr>
            </a:pPr>
            <a:r>
              <a:t>Linux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000" y="1600000"/>
            <a:ext cx="4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Ubuntu/Debian — установка, настройка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bash — автоматизация, cron-скрипты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2700000"/>
            <a:ext cx="5500000" cy="1500000"/>
          </a:xfrm>
          <a:prstGeom prst="rect">
            <a:avLst/>
          </a:prstGeom>
          <a:solidFill>
            <a:srgbClr val="121228"/>
          </a:solidFill>
          <a:ln w="127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25000" y="2975000"/>
            <a:ext cx="50000" cy="50000"/>
          </a:xfrm>
          <a:prstGeom prst="ellipse">
            <a:avLst/>
          </a:prstGeom>
          <a:solidFill>
            <a:srgbClr val="39FF14">
              <a:alpha val="3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000" y="285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9FF14"/>
                </a:solidFill>
                <a:latin typeface="Segoe UI"/>
              </a:defRPr>
            </a:pPr>
            <a:r>
              <a:t>Nginx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000" y="3300000"/>
            <a:ext cx="4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Веб-сервер, reverse-proxy, настройка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000" y="4400000"/>
            <a:ext cx="5500000" cy="1500000"/>
          </a:xfrm>
          <a:prstGeom prst="rect">
            <a:avLst/>
          </a:prstGeom>
          <a:solidFill>
            <a:srgbClr val="121228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25000" y="4675000"/>
            <a:ext cx="50000" cy="50000"/>
          </a:xfrm>
          <a:prstGeom prst="ellipse">
            <a:avLst/>
          </a:prstGeom>
          <a:solidFill>
            <a:srgbClr val="FFD700">
              <a:alpha val="3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000" y="455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Prometheus + Grafana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000" y="5000000"/>
            <a:ext cx="4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Развёрнуто на личном сервере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Мониторинг метрик, визуализация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00000" y="1000000"/>
            <a:ext cx="5500000" cy="1500000"/>
          </a:xfrm>
          <a:prstGeom prst="rect">
            <a:avLst/>
          </a:prstGeom>
          <a:solidFill>
            <a:srgbClr val="121228"/>
          </a:solidFill>
          <a:ln w="12700">
            <a:solidFill>
              <a:srgbClr val="4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725000" y="1275000"/>
            <a:ext cx="50000" cy="50000"/>
          </a:xfrm>
          <a:prstGeom prst="ellipse">
            <a:avLst/>
          </a:prstGeom>
          <a:solidFill>
            <a:srgbClr val="4A7CFF">
              <a:alpha val="3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0000" y="115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7CFF"/>
                </a:solidFill>
                <a:latin typeface="Segoe UI"/>
              </a:defRPr>
            </a:pPr>
            <a:r>
              <a:t>MySQL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0000" y="1600000"/>
            <a:ext cx="4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Проектирование БД, SQL-запросы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00000" y="2700000"/>
            <a:ext cx="5500000" cy="1500000"/>
          </a:xfrm>
          <a:prstGeom prst="rect">
            <a:avLst/>
          </a:prstGeom>
          <a:solidFill>
            <a:srgbClr val="121228"/>
          </a:solidFill>
          <a:ln w="1270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725000" y="2975000"/>
            <a:ext cx="50000" cy="50000"/>
          </a:xfrm>
          <a:prstGeom prst="ellipse">
            <a:avLst/>
          </a:prstGeom>
          <a:solidFill>
            <a:srgbClr val="FF00FF">
              <a:alpha val="3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00000" y="285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00FF"/>
                </a:solidFill>
                <a:latin typeface="Segoe UI"/>
              </a:defRPr>
            </a:pPr>
            <a:r>
              <a:t>PowerShell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0000" y="3300000"/>
            <a:ext cx="4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Скриптинг, Fabric-лаунчер (286 строк)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Deploy/Restore профилей модов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00000" y="4400000"/>
            <a:ext cx="5500000" cy="1500000"/>
          </a:xfrm>
          <a:prstGeom prst="rect">
            <a:avLst/>
          </a:prstGeom>
          <a:solidFill>
            <a:srgbClr val="121228"/>
          </a:solidFill>
          <a:ln w="1270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5000" y="4675000"/>
            <a:ext cx="50000" cy="50000"/>
          </a:xfrm>
          <a:prstGeom prst="ellipse">
            <a:avLst/>
          </a:prstGeom>
          <a:solidFill>
            <a:srgbClr val="8888AA">
              <a:alpha val="3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0000" y="455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888AA"/>
                </a:solidFill>
                <a:latin typeface="Segoe UI"/>
              </a:defRPr>
            </a:pPr>
            <a:r>
              <a:t>Git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0000" y="5000000"/>
            <a:ext cx="4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Контроль версий, монорепозиторий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0000" y="6000000"/>
            <a:ext cx="11500000" cy="50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0" y="6000000"/>
            <a:ext cx="121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  <a:latin typeface="Segoe UI"/>
              </a:defRPr>
            </a:pPr>
            <a:r>
              <a:t>«Люблю понимать, как всё работает — от игрового движка до серверной стойки»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7714" y="819666"/>
            <a:ext cx="97504" cy="97504"/>
          </a:xfrm>
          <a:prstGeom prst="ellipse">
            <a:avLst/>
          </a:prstGeom>
          <a:solidFill>
            <a:srgbClr val="00F0FF">
              <a:alpha val="37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245044" y="3722441"/>
            <a:ext cx="99208" cy="99208"/>
          </a:xfrm>
          <a:prstGeom prst="ellipse">
            <a:avLst/>
          </a:prstGeom>
          <a:solidFill>
            <a:srgbClr val="00F0FF">
              <a:alpha val="49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31285" y="5105295"/>
            <a:ext cx="66952" cy="66952"/>
          </a:xfrm>
          <a:prstGeom prst="ellipse">
            <a:avLst/>
          </a:prstGeom>
          <a:solidFill>
            <a:srgbClr val="4A7CFF">
              <a:alpha val="49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76141" y="3799050"/>
            <a:ext cx="48926" cy="48926"/>
          </a:xfrm>
          <a:prstGeom prst="ellipse">
            <a:avLst/>
          </a:prstGeom>
          <a:solidFill>
            <a:srgbClr val="00F0FF">
              <a:alpha val="18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6939" y="4626713"/>
            <a:ext cx="67824" cy="67824"/>
          </a:xfrm>
          <a:prstGeom prst="ellipse">
            <a:avLst/>
          </a:prstGeom>
          <a:solidFill>
            <a:srgbClr val="39FF14">
              <a:alpha val="37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4657" y="4991752"/>
            <a:ext cx="77992" cy="77992"/>
          </a:xfrm>
          <a:prstGeom prst="ellipse">
            <a:avLst/>
          </a:prstGeom>
          <a:solidFill>
            <a:srgbClr val="FF3333">
              <a:alpha val="3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2399" y="4488997"/>
            <a:ext cx="57950" cy="57950"/>
          </a:xfrm>
          <a:prstGeom prst="ellipse">
            <a:avLst/>
          </a:prstGeom>
          <a:solidFill>
            <a:srgbClr val="FFD700">
              <a:alpha val="29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8940" y="115141"/>
            <a:ext cx="96862" cy="96862"/>
          </a:xfrm>
          <a:prstGeom prst="ellipse">
            <a:avLst/>
          </a:prstGeom>
          <a:solidFill>
            <a:srgbClr val="39FF14">
              <a:alpha val="1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15367" y="1969723"/>
            <a:ext cx="33076" cy="33076"/>
          </a:xfrm>
          <a:prstGeom prst="ellipse">
            <a:avLst/>
          </a:prstGeom>
          <a:solidFill>
            <a:srgbClr val="39FF14">
              <a:alpha val="27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56487" y="266154"/>
            <a:ext cx="31770" cy="31770"/>
          </a:xfrm>
          <a:prstGeom prst="ellipse">
            <a:avLst/>
          </a:prstGeom>
          <a:solidFill>
            <a:srgbClr val="FF00FF">
              <a:alpha val="40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97291" y="5937914"/>
            <a:ext cx="59784" cy="59784"/>
          </a:xfrm>
          <a:prstGeom prst="ellipse">
            <a:avLst/>
          </a:prstGeom>
          <a:solidFill>
            <a:srgbClr val="FFD700">
              <a:alpha val="37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44182" y="5324504"/>
            <a:ext cx="35514" cy="35514"/>
          </a:xfrm>
          <a:prstGeom prst="ellipse">
            <a:avLst/>
          </a:prstGeom>
          <a:solidFill>
            <a:srgbClr val="39FF14">
              <a:alpha val="24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1425" y="4112526"/>
            <a:ext cx="48762" cy="48762"/>
          </a:xfrm>
          <a:prstGeom prst="ellipse">
            <a:avLst/>
          </a:prstGeom>
          <a:solidFill>
            <a:srgbClr val="FF00FF">
              <a:alpha val="24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04455" y="461301"/>
            <a:ext cx="87508" cy="87508"/>
          </a:xfrm>
          <a:prstGeom prst="ellipse">
            <a:avLst/>
          </a:prstGeom>
          <a:solidFill>
            <a:srgbClr val="4A7CFF">
              <a:alpha val="18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51440" y="88810"/>
            <a:ext cx="64962" cy="64962"/>
          </a:xfrm>
          <a:prstGeom prst="ellipse">
            <a:avLst/>
          </a:prstGeom>
          <a:solidFill>
            <a:srgbClr val="FF3333">
              <a:alpha val="2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14378" y="5526918"/>
            <a:ext cx="47064" cy="47064"/>
          </a:xfrm>
          <a:prstGeom prst="ellipse">
            <a:avLst/>
          </a:prstGeom>
          <a:solidFill>
            <a:srgbClr val="39FF14">
              <a:alpha val="2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22855" y="1333417"/>
            <a:ext cx="38410" cy="38410"/>
          </a:xfrm>
          <a:prstGeom prst="ellipse">
            <a:avLst/>
          </a:prstGeom>
          <a:solidFill>
            <a:srgbClr val="FFD700">
              <a:alpha val="20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54004" y="5586486"/>
            <a:ext cx="62126" cy="62126"/>
          </a:xfrm>
          <a:prstGeom prst="ellipse">
            <a:avLst/>
          </a:prstGeom>
          <a:solidFill>
            <a:srgbClr val="FFD700">
              <a:alpha val="25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9831" y="4909518"/>
            <a:ext cx="53568" cy="53568"/>
          </a:xfrm>
          <a:prstGeom prst="ellipse">
            <a:avLst/>
          </a:prstGeom>
          <a:solidFill>
            <a:srgbClr val="FFD700">
              <a:alpha val="45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363499" y="1851497"/>
            <a:ext cx="44674" cy="44674"/>
          </a:xfrm>
          <a:prstGeom prst="ellipse">
            <a:avLst/>
          </a:prstGeom>
          <a:solidFill>
            <a:srgbClr val="FF3333">
              <a:alpha val="20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10461" y="4450954"/>
            <a:ext cx="31112" cy="31112"/>
          </a:xfrm>
          <a:prstGeom prst="ellipse">
            <a:avLst/>
          </a:prstGeom>
          <a:solidFill>
            <a:srgbClr val="39FF14">
              <a:alpha val="2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22606" y="523242"/>
            <a:ext cx="59388" cy="59388"/>
          </a:xfrm>
          <a:prstGeom prst="ellipse">
            <a:avLst/>
          </a:prstGeom>
          <a:solidFill>
            <a:srgbClr val="FF00FF">
              <a:alpha val="29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80077" y="638191"/>
            <a:ext cx="55484" cy="55484"/>
          </a:xfrm>
          <a:prstGeom prst="ellipse">
            <a:avLst/>
          </a:prstGeom>
          <a:solidFill>
            <a:srgbClr val="00F0FF">
              <a:alpha val="4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0736" y="1892413"/>
            <a:ext cx="60722" cy="60722"/>
          </a:xfrm>
          <a:prstGeom prst="ellipse">
            <a:avLst/>
          </a:prstGeom>
          <a:solidFill>
            <a:srgbClr val="FF3333">
              <a:alpha val="30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20990" y="5934895"/>
            <a:ext cx="95148" cy="95148"/>
          </a:xfrm>
          <a:prstGeom prst="ellipse">
            <a:avLst/>
          </a:prstGeom>
          <a:solidFill>
            <a:srgbClr val="39FF14">
              <a:alpha val="41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96927" y="4803787"/>
            <a:ext cx="239000" cy="239000"/>
          </a:xfrm>
          <a:prstGeom prst="ellipse">
            <a:avLst/>
          </a:prstGeom>
          <a:solidFill>
            <a:srgbClr val="FF00FF">
              <a:alpha val="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19993" y="1973654"/>
            <a:ext cx="260892" cy="260892"/>
          </a:xfrm>
          <a:prstGeom prst="ellipse">
            <a:avLst/>
          </a:prstGeom>
          <a:solidFill>
            <a:srgbClr val="FFD700">
              <a:alpha val="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80813" y="4860996"/>
            <a:ext cx="243950" cy="243950"/>
          </a:xfrm>
          <a:prstGeom prst="ellipse">
            <a:avLst/>
          </a:prstGeom>
          <a:solidFill>
            <a:srgbClr val="FF00FF">
              <a:alpha val="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89309" y="1666270"/>
            <a:ext cx="244604" cy="244604"/>
          </a:xfrm>
          <a:prstGeom prst="ellipse">
            <a:avLst/>
          </a:prstGeom>
          <a:solidFill>
            <a:srgbClr val="FF00FF">
              <a:alpha val="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84200" y="1664583"/>
            <a:ext cx="165356" cy="165356"/>
          </a:xfrm>
          <a:prstGeom prst="ellipse">
            <a:avLst/>
          </a:prstGeom>
          <a:solidFill>
            <a:srgbClr val="FF00FF">
              <a:alpha val="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0" y="1800000"/>
            <a:ext cx="1219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00000" y="3100000"/>
            <a:ext cx="3000000" cy="30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00000" y="3100000"/>
            <a:ext cx="3000000" cy="10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0" y="3400000"/>
            <a:ext cx="121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F0FF"/>
                </a:solidFill>
                <a:latin typeface="Segoe UI"/>
              </a:defRPr>
            </a:pPr>
            <a:r>
              <a:t>Делиергиев Станислав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4000000"/>
            <a:ext cx="12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Segoe UI"/>
              </a:defRPr>
            </a:pPr>
            <a:r>
              <a:t>Студент СевГУ  |  1-й курс  |  ИСИТ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4400000"/>
            <a:ext cx="12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00FF"/>
                </a:solidFill>
                <a:latin typeface="Segoe UI"/>
              </a:defRPr>
            </a:pPr>
            <a:r>
              <a:t>st.deliergiev@mail.ru  |  github.com/keeeensy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0" y="5200000"/>
            <a:ext cx="12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4466"/>
                </a:solidFill>
                <a:latin typeface="Segoe UI"/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